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463040"/>
            <a:ext cx="8229600" cy="393192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463040"/>
            <a:ext cx="73152" cy="3931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AMERICAN REGIONAL AIRWAYS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Sistema Inteligente
de Alertas al Pasajero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37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F8C8D"/>
                </a:solidFill>
                <a:latin typeface="Calibri"/>
              </a:rPr>
              <a:t>Machine Learning con PySpark  ·  Departamento de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  <a:latin typeface="Calibri"/>
              </a:rPr>
              <a:t>Universidad Santo Tomás  ·  2026-I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  <a:latin typeface="Calibri"/>
              </a:rPr>
              <a:t>Análisis sobre 5,332,914 vuelos reales (USA, 2015)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463040"/>
            <a:ext cx="2834640" cy="13716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52560" y="1463040"/>
            <a:ext cx="2834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REGISTROS ANALIZADOS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181051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5.3M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2331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vuelos 2015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3017520"/>
            <a:ext cx="2834640" cy="13716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3017520"/>
            <a:ext cx="2834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3108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TASA BASE DE RETRASO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3364991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18.7%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variable objetivo DEP_DEL15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4572000"/>
            <a:ext cx="2834640" cy="13716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4572000"/>
            <a:ext cx="2834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4663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INFRAESTRUCTURA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491947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PySpark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5440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Docker · 4GB 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EL PROBLEMA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  <a:latin typeface="Calibri"/>
              </a:rPr>
              <a:t>¿Por qué un sistema de alertas?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3152" cy="5029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⚠  EL PROBLEMA 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997,211 vuelos retrasados al año.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Sin aviso = pasajero frustrado que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espera sin información.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Un retraso no avisado es una crisis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de reputación.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El 18.7% de los vuelos llega tarde,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pero el 100% de los pasajeros siente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la falta de comunicación.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73152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✓  NUESTRA SOLUCIÓN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Modelo de ML que predice retrasos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ANTES de que ocurran.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Alerta automática al pasajero vía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app / email / SMS.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No eliminamos el retraso,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eliminamos la incertidumbre.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Pasajero informado = cliente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que valora la transparencia.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&amp; 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Bureau of Transportation Statistics, USA — 2015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74320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3560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Mes del vuelo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 a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325880"/>
            <a:ext cx="274320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0128" y="132588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43560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DAY_OF_WEEK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Día semana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1=Lun · 7=Dom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325880"/>
            <a:ext cx="274320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325880"/>
            <a:ext cx="274320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43560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Calibri"/>
              </a:rPr>
              <a:t>AIRLINE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14 aerolíneas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código IATA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1325880"/>
            <a:ext cx="274320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4" y="1325880"/>
            <a:ext cx="274320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1435607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Calibri"/>
              </a:rPr>
              <a:t>ORIGIN / DEST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322 aeropuertos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origen y destino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274320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33756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47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DEP_HOUR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Hora de salida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0 a 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3337560"/>
            <a:ext cx="274320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0128" y="333756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3447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DISTANCE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Distancia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en millas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3337560"/>
            <a:ext cx="274320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3337560"/>
            <a:ext cx="27432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3447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DEP_DEL15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840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OBJETIVO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1=retraso ≥15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1325880"/>
            <a:ext cx="283464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1325880"/>
            <a:ext cx="28346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1444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INFRAESTRUCTURA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17830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Docker + PySpark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Spark 3.5.0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4 GB RAM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maxBins = 330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¿QUÉ CAUSA LOS RETRASOS?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Feature Importance — Random Forest (80 árboles)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371600"/>
            <a:ext cx="7772400" cy="566928"/>
          </a:xfrm>
          <a:prstGeom prst="rect">
            <a:avLst/>
          </a:prstGeom>
          <a:solidFill>
            <a:srgbClr val="E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5114239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DEP_HOUR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Hora de salida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4367" y="1481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65.8%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167128"/>
            <a:ext cx="7772400" cy="566928"/>
          </a:xfrm>
          <a:prstGeom prst="rect">
            <a:avLst/>
          </a:prstGeom>
          <a:solidFill>
            <a:srgbClr val="E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167128"/>
            <a:ext cx="1321308" cy="56692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167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AIRLINE_idx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441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Aerolínea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1436" y="22768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17.0%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962656"/>
            <a:ext cx="7772400" cy="566928"/>
          </a:xfrm>
          <a:prstGeom prst="rect">
            <a:avLst/>
          </a:prstGeom>
          <a:solidFill>
            <a:srgbClr val="E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2962656"/>
            <a:ext cx="683971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9626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ORIGIN_idx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236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Aeropuerto origen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4099" y="30723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8.8%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758183"/>
            <a:ext cx="7772400" cy="566928"/>
          </a:xfrm>
          <a:prstGeom prst="rect">
            <a:avLst/>
          </a:prstGeom>
          <a:solidFill>
            <a:srgbClr val="E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3758183"/>
            <a:ext cx="435254" cy="5669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5818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03250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5382" y="386791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5.6%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553712"/>
            <a:ext cx="7772400" cy="566928"/>
          </a:xfrm>
          <a:prstGeom prst="rect">
            <a:avLst/>
          </a:prstGeom>
          <a:solidFill>
            <a:srgbClr val="E0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4553712"/>
            <a:ext cx="217627" cy="56692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553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Calibri"/>
              </a:rPr>
              <a:t>Otras (3)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7755" y="4663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2.8%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69280"/>
            <a:ext cx="1152144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607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💡  La HORA de salida explica el 65.8% de los retrasos. Efecto dominó: los retrasos se acumulan a lo largo del día. Las alertas más efectivas se basan en la franja horaria.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DUELO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Árbol de Decisión vs Random Forest — ¿cuál protege mejor al pasajero?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54864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F8C8D"/>
                </a:solidFill>
                <a:latin typeface="Calibri"/>
              </a:rPr>
              <a:t>🌳  ÁRBOL DE DECISIÓN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4846320" cy="7132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47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AUC-ROC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2199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F8C8D"/>
                </a:solidFill>
                <a:latin typeface="Calibri"/>
              </a:rPr>
              <a:t>0.5573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43200"/>
            <a:ext cx="4846320" cy="7132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F8C8D"/>
                </a:solidFill>
                <a:latin typeface="Calibri"/>
              </a:rPr>
              <a:t>~45%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11879"/>
            <a:ext cx="4846320" cy="7132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850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Entrenamiento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593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F8C8D"/>
                </a:solidFill>
                <a:latin typeface="Calibri"/>
              </a:rPr>
              <a:t>70 seg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480559"/>
            <a:ext cx="4846320" cy="7132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53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Interpretabilidad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  <a:latin typeface="Calibri"/>
              </a:rPr>
              <a:t>Alta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F8C8D"/>
                </a:solidFill>
                <a:latin typeface="Calibri"/>
              </a:rPr>
              <a:t>Simple y rápido, pero
poco preciso para alertas.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280160"/>
            <a:ext cx="5303520" cy="50292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280160"/>
            <a:ext cx="5303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🌲  RANDOM FOREST  ← ELEGIDO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874519"/>
            <a:ext cx="4846320" cy="7132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1947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AUC-ROC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22199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0.6685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743200"/>
            <a:ext cx="4846320" cy="7132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2816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0906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68.6%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3611879"/>
            <a:ext cx="4846320" cy="7132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6850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Entrenamiento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9593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  <a:latin typeface="Calibri"/>
              </a:rPr>
              <a:t>817 seg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4480559"/>
            <a:ext cx="4846320" cy="7132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553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Interpretabilidad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82803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F1C"/>
                </a:solidFill>
                <a:latin typeface="Calibri"/>
              </a:rPr>
              <a:t>Moderada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349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Detecta casi 7 de cada 10
retrasos reales.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2926080"/>
            <a:ext cx="868680" cy="8686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41848" y="30175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JUGADA MAESTRA: AJUSTE DE UMBRAL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Threshold Tuning: 50% → 40%  |  Priorizamos al pasajero sobre la precisión formal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029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73152" cy="3840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UMBRAL ESTÁNDAR 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Retrasos NO detectados (FN):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62,575 pasajeros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sin aviso previo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→  Crisis de experiencia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→  Reputación dañada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8346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280160"/>
            <a:ext cx="5029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280160"/>
            <a:ext cx="73152" cy="3840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3898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UMBRAL AJUSTADO 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874519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Retrasos NO detectados (FN):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27,494 pasajeros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sin aviso previo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→  Falsa alarma: molestia leve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→  Retraso no avisado: pérdida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257800"/>
            <a:ext cx="11430000" cy="1325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21808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B4D8"/>
                </a:solidFill>
                <a:latin typeface="Calibri"/>
              </a:rPr>
              <a:t>35,081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468112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pasajeros adicionales que ahora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reciben su alerta preventiva.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REGLAS PARA EL SISTEMA DE ALERTAS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Automatización basada en el Árbol de Decisión — condiciones interpretables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16002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3152" cy="1600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685800" cy="685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904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Calibri"/>
              </a:rPr>
              <a:t>REGLA DE ORO — FRANJA HORARIA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74519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Todo vuelo con salida DESPUÉS de las 15:30h entra en estado ALERTA NARANJA. La hora explica el 65.8% de los retrasos. Es la regla de mayor cobertura.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39"/>
            <a:ext cx="11430000" cy="16002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63239"/>
            <a:ext cx="73152" cy="1600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291839"/>
            <a:ext cx="68580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192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278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REGLA DE AEROLÍNEA — RIESGO DOBLE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11879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Vuelos operados por Spirit (NK), United (UA) o Frontier (F9) en horas pico requieren monitoreo doble. Tasas: 27.7%, 24.3% y 23.8% respectivamente.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00600"/>
            <a:ext cx="11430000" cy="16002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7315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5029200"/>
            <a:ext cx="6858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05663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651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REGLA DE CORTA DISTANCIA — EFECTO DOMINÓ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49240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Vuelos menores a 1,100 millas en franjas vespertinas (15h–21h) son los más vulnerables al efecto cascada. Menor distancia = más rotaciones = más riesgo acumulado.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PERFILES DE VUELO: PELIGROSO vs SEGURO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Combinaciones de factores extraídas del modelo — base para las notificaciones push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🔴  VUELO PELIGROSO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029200" cy="6858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93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6712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18:00 – 21:00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671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tasa &gt; 27%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79"/>
            <a:ext cx="5029200" cy="6858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523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Aerolínea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00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NK / UA / F9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99008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Spirit, United, Frontier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39"/>
            <a:ext cx="5029200" cy="6858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753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Aeropuerto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13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MDW / ORD / EWR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813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Chicago, Newark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5029200" cy="6858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982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36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Junio / Febrero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6360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23.2% / 21.3%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66360"/>
            <a:ext cx="5029200" cy="6858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212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58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Lunes o Jueves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458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tasas ~19.8%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28016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280160"/>
            <a:ext cx="53949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🟢  VUELO SEGURO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874519"/>
            <a:ext cx="5029200" cy="685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19293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Hora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16712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05:00 – 08:00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16712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tasa &lt; 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697479"/>
            <a:ext cx="5029200" cy="685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27523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Aerolínea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9900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HA / AS / DL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99008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Hawaiian, Alaska, Delta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520439"/>
            <a:ext cx="5029200" cy="685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5753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813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Septiembre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813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tasa 12.6%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343400"/>
            <a:ext cx="5029200" cy="685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3982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Día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4636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Sábado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6360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día más seguro 16.6%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166360"/>
            <a:ext cx="5029200" cy="685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52212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Vuelo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5458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Madrugada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5458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primer turno del día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¿QUÉ LE DECIMOS AL PASAJERO?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  <a:latin typeface="Calibri"/>
              </a:rPr>
              <a:t>Diseño de la notificación para vuelos con &gt;50% de probabilidad de retraso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325880"/>
            <a:ext cx="576072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325880"/>
            <a:ext cx="576072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1399032"/>
            <a:ext cx="57607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356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✈  American Regional Airways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hace 2 minutos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Calibri"/>
              </a:rPr>
              <a:t>⚠  ALERTA DE POSIBLE RETRASO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Estimado pasajero, tu vuelo AR-2847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(Bogotá 19:45h) tiene alta probabilidad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de retraso según nuestro modelo predictivo.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Te recomendamos: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→  Llegar al aeropuerto sin apresurarte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→  Revisar el estado en nuestra app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→  Contactar a tu hotel si es necesario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Trabajamos para mantenerte informado.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25880"/>
            <a:ext cx="2651760" cy="438912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CUÁNDO
SE DISPARA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945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Hora &gt; 15:30h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RF predict &gt; 40%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Aerolínea de riesgo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Aeropuerto congestionado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Mes pico (Jun/Feb)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325880"/>
            <a:ext cx="2651760" cy="438912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Calibri"/>
              </a:rPr>
              <a:t>CANALES
DE ENVÍO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1945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Push app móvil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Email automático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SMS para viajeros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Pantallas hub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→ Chatbot 24/7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Calibri"/>
              </a:rPr>
              <a:t>"No estamos usando Machine Learning
para evitar el retraso.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1">
                <a:solidFill>
                  <a:srgbClr val="00B4D8"/>
                </a:solidFill>
                <a:latin typeface="Calibri"/>
              </a:rPr>
              <a:t>Lo estamos usando para eliminar
la incertidumbre."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— Departamento de Marketing, American Regional Airways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347472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88620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0507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65.8%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de la varianza explicada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por la hora de salida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886200"/>
            <a:ext cx="347472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388620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00507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35,081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09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pasajeros adicionales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alertados con umbral 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886200"/>
            <a:ext cx="3474720" cy="1828800"/>
          </a:xfrm>
          <a:prstGeom prst="rect">
            <a:avLst/>
          </a:prstGeom>
          <a:solidFill>
            <a:srgbClr val="17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88620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00507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0.6685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709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AUC-ROC del Random Forest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vs 0.5573 del árbol simple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F8C8D"/>
                </a:solidFill>
                <a:latin typeface="Calibri"/>
              </a:rPr>
              <a:t>Universidad Santo Tomás  ·  Estadística  ·  ML con PySpark 2026-I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